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34"/>
  </p:notesMasterIdLst>
  <p:sldIdLst>
    <p:sldId id="256" r:id="rId2"/>
    <p:sldId id="258" r:id="rId3"/>
    <p:sldId id="259" r:id="rId4"/>
    <p:sldId id="291" r:id="rId5"/>
    <p:sldId id="261" r:id="rId6"/>
    <p:sldId id="265" r:id="rId7"/>
    <p:sldId id="264" r:id="rId8"/>
    <p:sldId id="266" r:id="rId9"/>
    <p:sldId id="267" r:id="rId10"/>
    <p:sldId id="263" r:id="rId11"/>
    <p:sldId id="262" r:id="rId12"/>
    <p:sldId id="268" r:id="rId13"/>
    <p:sldId id="270" r:id="rId14"/>
    <p:sldId id="269" r:id="rId15"/>
    <p:sldId id="275" r:id="rId16"/>
    <p:sldId id="276" r:id="rId17"/>
    <p:sldId id="274" r:id="rId18"/>
    <p:sldId id="273" r:id="rId19"/>
    <p:sldId id="277" r:id="rId20"/>
    <p:sldId id="281" r:id="rId21"/>
    <p:sldId id="280" r:id="rId22"/>
    <p:sldId id="279" r:id="rId23"/>
    <p:sldId id="285" r:id="rId24"/>
    <p:sldId id="272" r:id="rId25"/>
    <p:sldId id="282" r:id="rId26"/>
    <p:sldId id="283" r:id="rId27"/>
    <p:sldId id="284" r:id="rId28"/>
    <p:sldId id="286" r:id="rId29"/>
    <p:sldId id="288" r:id="rId30"/>
    <p:sldId id="290" r:id="rId31"/>
    <p:sldId id="260" r:id="rId32"/>
    <p:sldId id="29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9E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6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0BB24-F37F-4B9D-B4E9-8CF5D0AFC11B}" type="datetimeFigureOut">
              <a:rPr lang="pt-BR" smtClean="0"/>
              <a:t>05/12/2025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4D11F-B688-4330-ACD1-92F5BE45F38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89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D11F-B688-4330-ACD1-92F5BE45F38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36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CB19E-466D-33EE-F4AD-33AEAF03A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B29A4-3E65-78E2-F728-DAAF1700F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74996-4EE6-CE3E-40DB-2C665C4E9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4DD2B-85A3-FEC4-F410-FFDD851EA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D11F-B688-4330-ACD1-92F5BE45F38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746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E5CED-7586-AE87-6ADC-AFCF6571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12576-0471-6F7F-7CA9-70FF208DC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70820-3756-5955-506F-DFEDE7695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5DF6D-2A00-FDC3-A890-E43BC24E2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D11F-B688-4330-ACD1-92F5BE45F38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502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4D11F-B688-4330-ACD1-92F5BE45F384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03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0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6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74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97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0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4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90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10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14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1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33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20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93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12/5/2025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34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12/5/2025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97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3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12/5/2025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206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80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12/5/2025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41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42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12/5/2025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167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12/5/2025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34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12/5/2025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62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35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045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633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50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81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434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384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263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808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85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43669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74515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9407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499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73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231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804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179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930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1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29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882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7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40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EA5BC-EAB2-7CF5-06DB-56D6012E6D0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350119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hyperlink" Target="mailto:sparandekar@worldbank.or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275E-1E2B-6EF1-F540-1ADC91BEA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109" y="5186245"/>
            <a:ext cx="11855736" cy="786384"/>
          </a:xfrm>
        </p:spPr>
        <p:txBody>
          <a:bodyPr anchor="b">
            <a:normAutofit fontScale="90000"/>
          </a:bodyPr>
          <a:lstStyle/>
          <a:p>
            <a:r>
              <a:rPr lang="pt-BR" noProof="0" dirty="0">
                <a:solidFill>
                  <a:srgbClr val="0000FF"/>
                </a:solidFill>
              </a:rPr>
              <a:t>Ferramenta Analítica</a:t>
            </a:r>
            <a:r>
              <a:rPr lang="pt-BR" noProof="0" dirty="0"/>
              <a:t>: PROPAG/Juros por Educação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95B9B-E256-9C95-29E0-BAB5EE9CF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109" y="5972629"/>
            <a:ext cx="11598131" cy="480373"/>
          </a:xfrm>
        </p:spPr>
        <p:txBody>
          <a:bodyPr>
            <a:normAutofit/>
          </a:bodyPr>
          <a:lstStyle/>
          <a:p>
            <a:r>
              <a:rPr lang="pt-BR" noProof="0" dirty="0"/>
              <a:t>Apoio para formulação de Plano de Aplicação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05CB25-B630-BB60-2BE0-C84F67302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8B6C5FB-1580-D800-3DA2-04A999A67A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93313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AF59-BE75-EA03-2A4D-8C5633EC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385088"/>
            <a:ext cx="10653578" cy="430811"/>
          </a:xfrm>
        </p:spPr>
        <p:txBody>
          <a:bodyPr>
            <a:normAutofit/>
          </a:bodyPr>
          <a:lstStyle/>
          <a:p>
            <a:r>
              <a:rPr lang="pt-BR" sz="2400" noProof="0" dirty="0"/>
              <a:t>O Desafio: Assegurar o Uso Estratégico dos Recursos do PROPAG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377DE-74D2-EC39-1AC1-CF95A8C66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22" y="1132086"/>
            <a:ext cx="10653579" cy="45938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noProof="0" dirty="0"/>
              <a:t>Mensagem-chave</a:t>
            </a:r>
          </a:p>
          <a:p>
            <a:r>
              <a:rPr lang="pt-BR" noProof="0" dirty="0"/>
              <a:t>O sucesso do PROPAG depende de decisões bem informadas nos Planos de Aplicação, envolvendo finanças, infraestrutura, educação e setor produtivo — </a:t>
            </a:r>
            <a:r>
              <a:rPr lang="pt-BR" noProof="0" dirty="0">
                <a:solidFill>
                  <a:srgbClr val="0000FF"/>
                </a:solidFill>
              </a:rPr>
              <a:t>decisões que pedem informações claras e acessíveis.</a:t>
            </a:r>
          </a:p>
          <a:p>
            <a:pPr marL="0" indent="0">
              <a:buNone/>
            </a:pPr>
            <a:r>
              <a:rPr lang="pt-BR" b="1" noProof="0" dirty="0"/>
              <a:t>Objetivo da Apresentação</a:t>
            </a:r>
          </a:p>
          <a:p>
            <a:r>
              <a:rPr lang="pt-BR" noProof="0" dirty="0"/>
              <a:t>Mostrar, por meio de exemplos práticos, que </a:t>
            </a:r>
            <a:r>
              <a:rPr lang="pt-BR" noProof="0" dirty="0">
                <a:solidFill>
                  <a:srgbClr val="0000FF"/>
                </a:solidFill>
              </a:rPr>
              <a:t>análises e visualizações feitas com dados públicos</a:t>
            </a:r>
            <a:r>
              <a:rPr lang="pt-BR" noProof="0" dirty="0"/>
              <a:t> podem ajudar gestores estaduais a planejar melhor o uso dos recursos do PROPAG.</a:t>
            </a:r>
          </a:p>
          <a:p>
            <a:pPr marL="0" indent="0">
              <a:buNone/>
            </a:pPr>
            <a:r>
              <a:rPr lang="pt-BR" b="1" noProof="0" dirty="0"/>
              <a:t>Como isso pode ser útil?</a:t>
            </a:r>
          </a:p>
          <a:p>
            <a:r>
              <a:rPr lang="pt-BR" noProof="0" dirty="0"/>
              <a:t>Ferramentas abertas, simples e de baixo custo podem ser adaptadas por equipes estaduais ou pelo MEC. O Banco Mundial disponibiliza seus códigos em fonte aberta. A questão é se faria sentido, no futuro, manter uma </a:t>
            </a:r>
            <a:r>
              <a:rPr lang="pt-BR" noProof="0" dirty="0">
                <a:solidFill>
                  <a:srgbClr val="0000FF"/>
                </a:solidFill>
              </a:rPr>
              <a:t>ferramenta analítica hospedada ou mantida pelo MEC </a:t>
            </a:r>
            <a:r>
              <a:rPr lang="pt-BR" noProof="0" dirty="0"/>
              <a:t>para apoiar decisões concretas do PROPAG.</a:t>
            </a:r>
          </a:p>
          <a:p>
            <a:endParaRPr lang="pt-BR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9B12F-14C9-4E7B-E929-A6B0D7B86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3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18BC5-EAA3-AF78-39F8-761A553E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3D660C-F062-49DE-4E26-7BB5D6F6C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6AF2B21-2195-004E-55AE-67D9FAEE1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776" y="385763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Como está organizada a ferramenta?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D107F4-565B-C0A6-D095-84B488D21B9E}"/>
              </a:ext>
            </a:extLst>
          </p:cNvPr>
          <p:cNvSpPr txBox="1"/>
          <p:nvPr/>
        </p:nvSpPr>
        <p:spPr>
          <a:xfrm>
            <a:off x="2769219" y="1748401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As abas se agrupam em cinco temas principais: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9357F9-29F3-DADE-E1F2-E1C443C436B2}"/>
              </a:ext>
            </a:extLst>
          </p:cNvPr>
          <p:cNvSpPr/>
          <p:nvPr/>
        </p:nvSpPr>
        <p:spPr>
          <a:xfrm>
            <a:off x="709857" y="2759027"/>
            <a:ext cx="1828800" cy="914400"/>
          </a:xfrm>
          <a:prstGeom prst="rect">
            <a:avLst/>
          </a:prstGeom>
          <a:solidFill>
            <a:srgbClr val="F98E0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Finanças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046168-9E3E-6C04-A1B5-F3D013F3DA1B}"/>
              </a:ext>
            </a:extLst>
          </p:cNvPr>
          <p:cNvSpPr/>
          <p:nvPr/>
        </p:nvSpPr>
        <p:spPr>
          <a:xfrm>
            <a:off x="2812977" y="2759027"/>
            <a:ext cx="1828800" cy="914400"/>
          </a:xfrm>
          <a:prstGeom prst="rect">
            <a:avLst/>
          </a:prstGeom>
          <a:solidFill>
            <a:srgbClr val="3F4788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Demografia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0B7880-70DA-24E9-B916-C04A4AB0CCD6}"/>
              </a:ext>
            </a:extLst>
          </p:cNvPr>
          <p:cNvSpPr/>
          <p:nvPr/>
        </p:nvSpPr>
        <p:spPr>
          <a:xfrm>
            <a:off x="4916097" y="2759027"/>
            <a:ext cx="1828800" cy="914400"/>
          </a:xfrm>
          <a:prstGeom prst="rect">
            <a:avLst/>
          </a:prstGeom>
          <a:solidFill>
            <a:srgbClr val="2DB27D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Oferta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D834A7-37F7-515E-EA76-D7BD499DDDA9}"/>
              </a:ext>
            </a:extLst>
          </p:cNvPr>
          <p:cNvSpPr/>
          <p:nvPr/>
        </p:nvSpPr>
        <p:spPr>
          <a:xfrm>
            <a:off x="7019217" y="2759027"/>
            <a:ext cx="1828800" cy="914400"/>
          </a:xfrm>
          <a:prstGeom prst="rect">
            <a:avLst/>
          </a:prstGeom>
          <a:solidFill>
            <a:srgbClr val="B4DD2C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Demanda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6D0F13-E359-7E0D-5F98-03FD71223BC9}"/>
              </a:ext>
            </a:extLst>
          </p:cNvPr>
          <p:cNvSpPr/>
          <p:nvPr/>
        </p:nvSpPr>
        <p:spPr>
          <a:xfrm>
            <a:off x="9122336" y="2759027"/>
            <a:ext cx="1828800" cy="914400"/>
          </a:xfrm>
          <a:prstGeom prst="rect">
            <a:avLst/>
          </a:prstGeom>
          <a:solidFill>
            <a:srgbClr val="450A6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Matching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569A0B-85BD-86E8-2084-ED248FBC3EFD}"/>
              </a:ext>
            </a:extLst>
          </p:cNvPr>
          <p:cNvSpPr txBox="1"/>
          <p:nvPr/>
        </p:nvSpPr>
        <p:spPr>
          <a:xfrm>
            <a:off x="3154448" y="4436956"/>
            <a:ext cx="520046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>
                <a:solidFill>
                  <a:srgbClr val="0000FF"/>
                </a:solidFill>
              </a:rPr>
              <a:t>Apresentamos cada um deles a seguir</a:t>
            </a:r>
          </a:p>
        </p:txBody>
      </p:sp>
    </p:spTree>
    <p:extLst>
      <p:ext uri="{BB962C8B-B14F-4D97-AF65-F5344CB8AC3E}">
        <p14:creationId xmlns:p14="http://schemas.microsoft.com/office/powerpoint/2010/main" val="409447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1569-AF52-6DF5-A4E6-2E13CEC2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7D5847-CF91-8CBC-D832-CA426D3C7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9843B9E-A65E-7278-BCEA-0484F8828F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608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Visão Inicial da Ferramenta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3E397-8CBA-EE1D-87A1-C62D2673FCAE}"/>
              </a:ext>
            </a:extLst>
          </p:cNvPr>
          <p:cNvSpPr txBox="1"/>
          <p:nvPr/>
        </p:nvSpPr>
        <p:spPr>
          <a:xfrm>
            <a:off x="2684207" y="612717"/>
            <a:ext cx="8136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0" dirty="0"/>
              <a:t>Navegação por </a:t>
            </a:r>
            <a:r>
              <a:rPr lang="pt-BR" noProof="0" dirty="0">
                <a:solidFill>
                  <a:srgbClr val="0000FF"/>
                </a:solidFill>
              </a:rPr>
              <a:t>abas</a:t>
            </a:r>
            <a:r>
              <a:rPr lang="pt-BR" noProof="0" dirty="0"/>
              <a:t> (acima) ou por </a:t>
            </a:r>
            <a:r>
              <a:rPr lang="pt-BR" noProof="0" dirty="0">
                <a:solidFill>
                  <a:srgbClr val="0000FF"/>
                </a:solidFill>
              </a:rPr>
              <a:t>links</a:t>
            </a:r>
            <a:r>
              <a:rPr lang="pt-BR" noProof="0" dirty="0"/>
              <a:t> temáticos (abaixo)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2981D1-1B9F-E86A-8916-08A16215A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09" y="982049"/>
            <a:ext cx="11690556" cy="500323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8C0573-C07E-852F-A0D4-9CCFDE9C8359}"/>
              </a:ext>
            </a:extLst>
          </p:cNvPr>
          <p:cNvCxnSpPr>
            <a:cxnSpLocks/>
          </p:cNvCxnSpPr>
          <p:nvPr/>
        </p:nvCxnSpPr>
        <p:spPr>
          <a:xfrm flipV="1">
            <a:off x="924232" y="2051470"/>
            <a:ext cx="1219199" cy="406595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4679A3-4D6B-4A74-9A88-7FCB6EE0AE89}"/>
              </a:ext>
            </a:extLst>
          </p:cNvPr>
          <p:cNvSpPr txBox="1"/>
          <p:nvPr/>
        </p:nvSpPr>
        <p:spPr>
          <a:xfrm>
            <a:off x="285135" y="2349910"/>
            <a:ext cx="78658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noProof="0" dirty="0"/>
              <a:t>aba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F14FDB-DE8A-E599-C8A1-8A4EB55B042E}"/>
              </a:ext>
            </a:extLst>
          </p:cNvPr>
          <p:cNvSpPr txBox="1"/>
          <p:nvPr/>
        </p:nvSpPr>
        <p:spPr>
          <a:xfrm>
            <a:off x="4894006" y="6212815"/>
            <a:ext cx="78658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noProof="0" dirty="0"/>
              <a:t>link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139926-F333-B242-5660-D09D3F9634E2}"/>
              </a:ext>
            </a:extLst>
          </p:cNvPr>
          <p:cNvCxnSpPr>
            <a:cxnSpLocks/>
          </p:cNvCxnSpPr>
          <p:nvPr/>
        </p:nvCxnSpPr>
        <p:spPr>
          <a:xfrm flipV="1">
            <a:off x="5287296" y="5270090"/>
            <a:ext cx="966019" cy="942725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B66B7E5B-1ACB-C54B-C1FE-24B77D029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393" y="3162437"/>
            <a:ext cx="8183117" cy="155279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1" name="Graphic 30" descr="Magnifying glass outline">
            <a:extLst>
              <a:ext uri="{FF2B5EF4-FFF2-40B4-BE49-F238E27FC236}">
                <a16:creationId xmlns:a16="http://schemas.microsoft.com/office/drawing/2014/main" id="{BD3CB28C-E61A-4492-F11E-87EDC23A7E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7399" y="46734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1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367E-FC40-B051-3372-7F82CB11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D307E3-2E6B-C807-C016-74FA0727D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864520F-E4E0-E729-B01B-4983084D89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775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População 15–19 anos e Matrículas EPT/EM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2CF858-DCB4-8933-B1AC-2B66FDA8FABE}"/>
              </a:ext>
            </a:extLst>
          </p:cNvPr>
          <p:cNvSpPr txBox="1"/>
          <p:nvPr/>
        </p:nvSpPr>
        <p:spPr>
          <a:xfrm>
            <a:off x="2299357" y="612717"/>
            <a:ext cx="832150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Exploração por estado, região, só ou comparação entre UFs</a:t>
            </a:r>
          </a:p>
        </p:txBody>
      </p:sp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84E7E59C-1A60-94EB-3415-332EA466C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65" y="1217932"/>
            <a:ext cx="11651226" cy="48205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9AE946-05F3-C233-3697-F93E2E98A32E}"/>
              </a:ext>
            </a:extLst>
          </p:cNvPr>
          <p:cNvSpPr/>
          <p:nvPr/>
        </p:nvSpPr>
        <p:spPr>
          <a:xfrm>
            <a:off x="312665" y="187985"/>
            <a:ext cx="1751093" cy="430887"/>
          </a:xfrm>
          <a:prstGeom prst="rect">
            <a:avLst/>
          </a:prstGeom>
          <a:solidFill>
            <a:srgbClr val="3F4788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Demografia</a:t>
            </a:r>
          </a:p>
        </p:txBody>
      </p:sp>
    </p:spTree>
    <p:extLst>
      <p:ext uri="{BB962C8B-B14F-4D97-AF65-F5344CB8AC3E}">
        <p14:creationId xmlns:p14="http://schemas.microsoft.com/office/powerpoint/2010/main" val="69919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C81AE-C080-C2A0-8978-1AA6BD9D3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74DAFD-4548-BCEB-B498-9EB50B3FA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93B4DBB-D1FF-0922-BA53-B03CFE68F0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775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População 15–19 anos e Matrículas EPT/EM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02BE5-FC44-B07D-A757-DB319A47607E}"/>
              </a:ext>
            </a:extLst>
          </p:cNvPr>
          <p:cNvSpPr txBox="1"/>
          <p:nvPr/>
        </p:nvSpPr>
        <p:spPr>
          <a:xfrm>
            <a:off x="2299357" y="612717"/>
            <a:ext cx="832150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Exploração por estado, região, só ou comparação entre UFs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567E86-481D-A597-78A0-810233C81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1183170"/>
            <a:ext cx="11708252" cy="480131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AA774E8-3E91-8124-E80E-8EC03AB15EEC}"/>
              </a:ext>
            </a:extLst>
          </p:cNvPr>
          <p:cNvSpPr/>
          <p:nvPr/>
        </p:nvSpPr>
        <p:spPr>
          <a:xfrm>
            <a:off x="342958" y="181830"/>
            <a:ext cx="1751093" cy="430887"/>
          </a:xfrm>
          <a:prstGeom prst="rect">
            <a:avLst/>
          </a:prstGeom>
          <a:solidFill>
            <a:srgbClr val="3F4788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Demografia</a:t>
            </a:r>
          </a:p>
        </p:txBody>
      </p:sp>
    </p:spTree>
    <p:extLst>
      <p:ext uri="{BB962C8B-B14F-4D97-AF65-F5344CB8AC3E}">
        <p14:creationId xmlns:p14="http://schemas.microsoft.com/office/powerpoint/2010/main" val="1403917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86B4F-C173-FC37-9580-61A2A1A7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9583B3-4882-D7D2-486A-036165FE5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829F724-2740-0D9B-D81F-97703CC42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210" y="98086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Simulações Financeiras do PROPAG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D0140-924E-E247-06E7-5E9D15806D71}"/>
              </a:ext>
            </a:extLst>
          </p:cNvPr>
          <p:cNvSpPr txBox="1"/>
          <p:nvPr/>
        </p:nvSpPr>
        <p:spPr>
          <a:xfrm>
            <a:off x="240009" y="616680"/>
            <a:ext cx="1208375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Seleção das </a:t>
            </a:r>
            <a:r>
              <a:rPr lang="pt-BR" noProof="0" dirty="0">
                <a:solidFill>
                  <a:srgbClr val="0000FF"/>
                </a:solidFill>
              </a:rPr>
              <a:t>quatro opções</a:t>
            </a:r>
            <a:r>
              <a:rPr lang="pt-BR" noProof="0" dirty="0"/>
              <a:t>: abatimento, aporte ao FEF, investimento direto e taxa de juros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EF1F769-E56D-89ED-101F-D26C3A434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11" y="1065523"/>
            <a:ext cx="11504577" cy="503547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98D43D-EA02-E9EF-C7C8-D4F7BF835C8A}"/>
              </a:ext>
            </a:extLst>
          </p:cNvPr>
          <p:cNvSpPr/>
          <p:nvPr/>
        </p:nvSpPr>
        <p:spPr>
          <a:xfrm>
            <a:off x="343711" y="76879"/>
            <a:ext cx="1345052" cy="506000"/>
          </a:xfrm>
          <a:prstGeom prst="rect">
            <a:avLst/>
          </a:prstGeom>
          <a:solidFill>
            <a:srgbClr val="F98E0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Finanças</a:t>
            </a:r>
          </a:p>
        </p:txBody>
      </p:sp>
    </p:spTree>
    <p:extLst>
      <p:ext uri="{BB962C8B-B14F-4D97-AF65-F5344CB8AC3E}">
        <p14:creationId xmlns:p14="http://schemas.microsoft.com/office/powerpoint/2010/main" val="3581854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977D-7DA0-0533-E5DA-AC7E4667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E35C2C-D448-3F66-4097-C0F0722B7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661EE0C-F79B-4560-3DA2-5C148C1E2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210" y="98086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Simulações Financeiras do PROPAG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52E76-746E-2794-670E-39B2D074B1D3}"/>
              </a:ext>
            </a:extLst>
          </p:cNvPr>
          <p:cNvSpPr txBox="1"/>
          <p:nvPr/>
        </p:nvSpPr>
        <p:spPr>
          <a:xfrm>
            <a:off x="200680" y="619000"/>
            <a:ext cx="1076448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Seleção da </a:t>
            </a:r>
            <a:r>
              <a:rPr lang="pt-BR" noProof="0" dirty="0">
                <a:solidFill>
                  <a:srgbClr val="0000FF"/>
                </a:solidFill>
              </a:rPr>
              <a:t>variável</a:t>
            </a:r>
            <a:r>
              <a:rPr lang="pt-BR" noProof="0" dirty="0"/>
              <a:t> (saldo, aporte para FEF, Inv. Direto e juros pagos) e o </a:t>
            </a:r>
            <a:r>
              <a:rPr lang="pt-BR" noProof="0" dirty="0">
                <a:solidFill>
                  <a:srgbClr val="0000FF"/>
                </a:solidFill>
              </a:rPr>
              <a:t>período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4564C854-2D69-EF31-9833-83644D667E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3" y="1086009"/>
            <a:ext cx="11513574" cy="49945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2C941F9-E626-1CD3-808E-ED11A846A252}"/>
              </a:ext>
            </a:extLst>
          </p:cNvPr>
          <p:cNvSpPr/>
          <p:nvPr/>
        </p:nvSpPr>
        <p:spPr>
          <a:xfrm>
            <a:off x="343711" y="76879"/>
            <a:ext cx="1345052" cy="506000"/>
          </a:xfrm>
          <a:prstGeom prst="rect">
            <a:avLst/>
          </a:prstGeom>
          <a:solidFill>
            <a:srgbClr val="F98E0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Finanças</a:t>
            </a:r>
          </a:p>
        </p:txBody>
      </p:sp>
    </p:spTree>
    <p:extLst>
      <p:ext uri="{BB962C8B-B14F-4D97-AF65-F5344CB8AC3E}">
        <p14:creationId xmlns:p14="http://schemas.microsoft.com/office/powerpoint/2010/main" val="219138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0EA5E-7352-7ED0-3D7C-7C12A592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9AAF65-7AFD-C9DA-0FEA-A720FADC1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8C0A198-D57C-AAAD-F7A6-C7537AF3F9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210" y="98086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Simulações Financeiras do PROPAG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82E8B2-C39B-D9DC-C0F8-98C674EF376A}"/>
              </a:ext>
            </a:extLst>
          </p:cNvPr>
          <p:cNvSpPr txBox="1"/>
          <p:nvPr/>
        </p:nvSpPr>
        <p:spPr>
          <a:xfrm>
            <a:off x="2904551" y="439679"/>
            <a:ext cx="656942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Não permite a seleção de </a:t>
            </a:r>
            <a:r>
              <a:rPr lang="pt-BR" noProof="0" dirty="0">
                <a:solidFill>
                  <a:srgbClr val="0000FF"/>
                </a:solidFill>
              </a:rPr>
              <a:t>combinações inválidas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4826DB-DCF0-731A-D149-070CBF646F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60" y="972507"/>
            <a:ext cx="11901880" cy="49129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A796BB-E3D0-C04F-B31C-C405A0507768}"/>
              </a:ext>
            </a:extLst>
          </p:cNvPr>
          <p:cNvSpPr/>
          <p:nvPr/>
        </p:nvSpPr>
        <p:spPr>
          <a:xfrm>
            <a:off x="343711" y="135871"/>
            <a:ext cx="1345052" cy="506000"/>
          </a:xfrm>
          <a:prstGeom prst="rect">
            <a:avLst/>
          </a:prstGeom>
          <a:solidFill>
            <a:srgbClr val="F98E0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Finanças</a:t>
            </a:r>
          </a:p>
        </p:txBody>
      </p:sp>
    </p:spTree>
    <p:extLst>
      <p:ext uri="{BB962C8B-B14F-4D97-AF65-F5344CB8AC3E}">
        <p14:creationId xmlns:p14="http://schemas.microsoft.com/office/powerpoint/2010/main" val="427580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491A0-8B25-2FFB-5B42-D3CC43A4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669AC2-BAD8-ACFB-E0A5-EAB594ECA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72C18DA-38B2-172E-1348-A5430CB0AC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776" y="257944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Retorno ao FEF: Aporte e Fluxo Líquido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26D0E-200A-06EE-61A8-60B567D3D467}"/>
              </a:ext>
            </a:extLst>
          </p:cNvPr>
          <p:cNvSpPr txBox="1"/>
          <p:nvPr/>
        </p:nvSpPr>
        <p:spPr>
          <a:xfrm>
            <a:off x="2057074" y="683706"/>
            <a:ext cx="807785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Impacto das escolhas dos estados sobre a evolução do FEF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AFB929-9D43-F5CA-801D-70CE799F4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7" y="1114593"/>
            <a:ext cx="11919826" cy="49994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9CE1492-9C6C-BC2B-AB87-9F69E5053FCE}"/>
              </a:ext>
            </a:extLst>
          </p:cNvPr>
          <p:cNvSpPr/>
          <p:nvPr/>
        </p:nvSpPr>
        <p:spPr>
          <a:xfrm>
            <a:off x="343711" y="175201"/>
            <a:ext cx="1345052" cy="506000"/>
          </a:xfrm>
          <a:prstGeom prst="rect">
            <a:avLst/>
          </a:prstGeom>
          <a:solidFill>
            <a:srgbClr val="F98E0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Finanças</a:t>
            </a:r>
          </a:p>
        </p:txBody>
      </p:sp>
    </p:spTree>
    <p:extLst>
      <p:ext uri="{BB962C8B-B14F-4D97-AF65-F5344CB8AC3E}">
        <p14:creationId xmlns:p14="http://schemas.microsoft.com/office/powerpoint/2010/main" val="1721595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481EA-2724-1C4A-1286-F52CCB991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9D2A67-F10C-81DA-A217-93DB2DC90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845DAF8-C8A3-CAC9-9171-7B88555EF2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210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Meta 11a – Comparação das Definições e Cenários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A2FBE-5777-757E-F1C5-94296AE090E4}"/>
              </a:ext>
            </a:extLst>
          </p:cNvPr>
          <p:cNvSpPr txBox="1"/>
          <p:nvPr/>
        </p:nvSpPr>
        <p:spPr>
          <a:xfrm>
            <a:off x="1294381" y="706182"/>
            <a:ext cx="886011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Três perspectivas da Meta 11 e o esforço necessário para atingi-la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889F3094-ED19-E992-BA41-5F1A09D1D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8" y="1137069"/>
            <a:ext cx="11897032" cy="47512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678904-20FD-E260-F814-C24088FD13E3}"/>
              </a:ext>
            </a:extLst>
          </p:cNvPr>
          <p:cNvSpPr/>
          <p:nvPr/>
        </p:nvSpPr>
        <p:spPr>
          <a:xfrm>
            <a:off x="196648" y="176047"/>
            <a:ext cx="1484672" cy="399285"/>
          </a:xfrm>
          <a:prstGeom prst="rect">
            <a:avLst/>
          </a:prstGeom>
          <a:solidFill>
            <a:srgbClr val="2DB27D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Oferta</a:t>
            </a:r>
          </a:p>
        </p:txBody>
      </p:sp>
    </p:spTree>
    <p:extLst>
      <p:ext uri="{BB962C8B-B14F-4D97-AF65-F5344CB8AC3E}">
        <p14:creationId xmlns:p14="http://schemas.microsoft.com/office/powerpoint/2010/main" val="2855055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5A8E-8AF7-09BE-D5BC-FC38E255A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2498E8-5997-E1B6-8890-3738CB7BC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B707141-99EF-F59C-27A5-E4989F354D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210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Meta 11a – Comparação das Definições e Cenários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80EEE7-A370-EBB3-4564-B119673C9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04" y="1066470"/>
            <a:ext cx="8716591" cy="47250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10FD7D9-DC35-008E-9BE7-4151ADE29749}"/>
              </a:ext>
            </a:extLst>
          </p:cNvPr>
          <p:cNvSpPr/>
          <p:nvPr/>
        </p:nvSpPr>
        <p:spPr>
          <a:xfrm>
            <a:off x="196648" y="176047"/>
            <a:ext cx="1484672" cy="399285"/>
          </a:xfrm>
          <a:prstGeom prst="rect">
            <a:avLst/>
          </a:prstGeom>
          <a:solidFill>
            <a:srgbClr val="2DB27D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Oferta</a:t>
            </a:r>
          </a:p>
        </p:txBody>
      </p:sp>
    </p:spTree>
    <p:extLst>
      <p:ext uri="{BB962C8B-B14F-4D97-AF65-F5344CB8AC3E}">
        <p14:creationId xmlns:p14="http://schemas.microsoft.com/office/powerpoint/2010/main" val="1150203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7434-F365-04E1-2876-15B27DC6A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B6FA13-658D-D979-4A00-8C005DAF9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66A2080-9D11-D2BF-5C99-002F378079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210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Meta 11a – Comparação das Definições e Cenários</a:t>
            </a: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5881BA49-E047-2650-F12C-45309C3D4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702" y="741017"/>
            <a:ext cx="9311309" cy="5016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EA4958-9CE8-D7FE-02C1-A5E796DA619E}"/>
              </a:ext>
            </a:extLst>
          </p:cNvPr>
          <p:cNvSpPr/>
          <p:nvPr/>
        </p:nvSpPr>
        <p:spPr>
          <a:xfrm>
            <a:off x="196648" y="176047"/>
            <a:ext cx="1484672" cy="399285"/>
          </a:xfrm>
          <a:prstGeom prst="rect">
            <a:avLst/>
          </a:prstGeom>
          <a:solidFill>
            <a:srgbClr val="2DB27D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Oferta</a:t>
            </a:r>
          </a:p>
        </p:txBody>
      </p:sp>
    </p:spTree>
    <p:extLst>
      <p:ext uri="{BB962C8B-B14F-4D97-AF65-F5344CB8AC3E}">
        <p14:creationId xmlns:p14="http://schemas.microsoft.com/office/powerpoint/2010/main" val="446328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1DD08-C108-0610-234A-B44F8A1C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B85AAC-9605-E7CF-9C1F-5A817C5D1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911576F-3D29-7B18-AB16-63AB83C7DA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210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Meta 11a – Comparação das Definições e Cenários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CE7282-E26A-A5E4-85EE-6B52658A2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212" y="765830"/>
            <a:ext cx="9693489" cy="51168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FE7E4F-E904-881C-498E-E89D9486F0DD}"/>
              </a:ext>
            </a:extLst>
          </p:cNvPr>
          <p:cNvSpPr/>
          <p:nvPr/>
        </p:nvSpPr>
        <p:spPr>
          <a:xfrm>
            <a:off x="196648" y="176047"/>
            <a:ext cx="1484672" cy="399285"/>
          </a:xfrm>
          <a:prstGeom prst="rect">
            <a:avLst/>
          </a:prstGeom>
          <a:solidFill>
            <a:srgbClr val="2DB27D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Oferta</a:t>
            </a:r>
          </a:p>
        </p:txBody>
      </p:sp>
    </p:spTree>
    <p:extLst>
      <p:ext uri="{BB962C8B-B14F-4D97-AF65-F5344CB8AC3E}">
        <p14:creationId xmlns:p14="http://schemas.microsoft.com/office/powerpoint/2010/main" val="1508562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8145-272B-E8E4-194C-9CD10622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064C2A-B444-334E-75F8-82CC9580E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2944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Modelo Econométrico de Matrículas EPT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93E49-DF5C-6469-7288-DEC3418824B7}"/>
              </a:ext>
            </a:extLst>
          </p:cNvPr>
          <p:cNvSpPr txBox="1"/>
          <p:nvPr/>
        </p:nvSpPr>
        <p:spPr>
          <a:xfrm>
            <a:off x="1906326" y="576505"/>
            <a:ext cx="897553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Relação entre renda, alinhamento setorial e desempenho esperado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46E234-8171-A2FF-2E5D-D2C35D1CC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16" y="1248047"/>
            <a:ext cx="7596755" cy="542196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EE7A3A-AE94-9114-55B6-5681B21096AA}"/>
              </a:ext>
            </a:extLst>
          </p:cNvPr>
          <p:cNvSpPr/>
          <p:nvPr/>
        </p:nvSpPr>
        <p:spPr>
          <a:xfrm>
            <a:off x="196648" y="176047"/>
            <a:ext cx="1484672" cy="399285"/>
          </a:xfrm>
          <a:prstGeom prst="rect">
            <a:avLst/>
          </a:prstGeom>
          <a:solidFill>
            <a:srgbClr val="2DB27D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Oferta</a:t>
            </a:r>
          </a:p>
        </p:txBody>
      </p:sp>
    </p:spTree>
    <p:extLst>
      <p:ext uri="{BB962C8B-B14F-4D97-AF65-F5344CB8AC3E}">
        <p14:creationId xmlns:p14="http://schemas.microsoft.com/office/powerpoint/2010/main" val="986489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38B47-AE0F-0D24-F742-D47DAF0AC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1FD9C8-0AC9-EE2C-ECEB-61D73087CB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2944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Modelo Econométrico de Matrículas EPT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1FA72-BB79-2D1A-A17A-D4E59EE13427}"/>
              </a:ext>
            </a:extLst>
          </p:cNvPr>
          <p:cNvSpPr txBox="1"/>
          <p:nvPr/>
        </p:nvSpPr>
        <p:spPr>
          <a:xfrm>
            <a:off x="915812" y="560518"/>
            <a:ext cx="1071639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/>
              <a:t>Exploração de diferenças entre estados, setores e redes para nutrir a discussão</a:t>
            </a:r>
            <a:endParaRPr lang="pt-BR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39526C-2874-ED62-8CFB-563FCEDF6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95" y="1001237"/>
            <a:ext cx="11464413" cy="52020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F0E2DF-5D8A-E9BB-2148-9450BAD3C6BC}"/>
              </a:ext>
            </a:extLst>
          </p:cNvPr>
          <p:cNvSpPr/>
          <p:nvPr/>
        </p:nvSpPr>
        <p:spPr>
          <a:xfrm>
            <a:off x="196648" y="176047"/>
            <a:ext cx="1484672" cy="399285"/>
          </a:xfrm>
          <a:prstGeom prst="rect">
            <a:avLst/>
          </a:prstGeom>
          <a:solidFill>
            <a:srgbClr val="2DB27D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Oferta</a:t>
            </a:r>
          </a:p>
        </p:txBody>
      </p:sp>
    </p:spTree>
    <p:extLst>
      <p:ext uri="{BB962C8B-B14F-4D97-AF65-F5344CB8AC3E}">
        <p14:creationId xmlns:p14="http://schemas.microsoft.com/office/powerpoint/2010/main" val="3688822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DD0B0-A21D-B54D-66F7-B41CF9F0E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10C614-3B25-47E6-6FF6-7C2B534F8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776" y="267776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Dinamismo Econômico e Oportunidades para EPT</a:t>
            </a:r>
            <a:endParaRPr lang="pt-BR" sz="24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09630-7CD3-32CB-C534-2478096615D7}"/>
              </a:ext>
            </a:extLst>
          </p:cNvPr>
          <p:cNvSpPr txBox="1"/>
          <p:nvPr/>
        </p:nvSpPr>
        <p:spPr>
          <a:xfrm>
            <a:off x="879183" y="692508"/>
            <a:ext cx="103871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200" dirty="0"/>
              <a:t>Exploração para orientar a alocação estratégica de vagas e investimentos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56C615-718F-CA7D-7195-257DC0519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67" y="1218566"/>
            <a:ext cx="11579224" cy="527003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FE58B02-A82A-E2D7-17CA-3A881593A3DB}"/>
              </a:ext>
            </a:extLst>
          </p:cNvPr>
          <p:cNvSpPr/>
          <p:nvPr/>
        </p:nvSpPr>
        <p:spPr>
          <a:xfrm>
            <a:off x="202972" y="235805"/>
            <a:ext cx="1445343" cy="409117"/>
          </a:xfrm>
          <a:prstGeom prst="rect">
            <a:avLst/>
          </a:prstGeom>
          <a:solidFill>
            <a:srgbClr val="B4DD2C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Demanda</a:t>
            </a:r>
          </a:p>
        </p:txBody>
      </p:sp>
    </p:spTree>
    <p:extLst>
      <p:ext uri="{BB962C8B-B14F-4D97-AF65-F5344CB8AC3E}">
        <p14:creationId xmlns:p14="http://schemas.microsoft.com/office/powerpoint/2010/main" val="3662546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2743E-1A7B-1F0C-DC63-70766912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735562-4FD8-31EE-F040-A86272C6C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64F649F-D01D-43E8-502A-A2ACC6899E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434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EPT e Mercado de Trabalho: Diagnóstico da Informalidade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04B3A-FA4A-D346-EEE1-E7322074FA5E}"/>
              </a:ext>
            </a:extLst>
          </p:cNvPr>
          <p:cNvSpPr txBox="1"/>
          <p:nvPr/>
        </p:nvSpPr>
        <p:spPr>
          <a:xfrm>
            <a:off x="1715341" y="624832"/>
            <a:ext cx="896431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/>
              <a:t>Classificação de municípios e ocupações por decil de formalização</a:t>
            </a:r>
            <a:endParaRPr lang="pt-BR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4D0754-8F94-16C7-7905-88567B475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6" y="1472023"/>
            <a:ext cx="11169445" cy="46954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F87A07-7B91-ED41-7287-A981B05F9D34}"/>
              </a:ext>
            </a:extLst>
          </p:cNvPr>
          <p:cNvSpPr/>
          <p:nvPr/>
        </p:nvSpPr>
        <p:spPr>
          <a:xfrm>
            <a:off x="193140" y="187985"/>
            <a:ext cx="1445343" cy="409117"/>
          </a:xfrm>
          <a:prstGeom prst="rect">
            <a:avLst/>
          </a:prstGeom>
          <a:solidFill>
            <a:srgbClr val="B4DD2C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Demanda</a:t>
            </a:r>
          </a:p>
        </p:txBody>
      </p:sp>
    </p:spTree>
    <p:extLst>
      <p:ext uri="{BB962C8B-B14F-4D97-AF65-F5344CB8AC3E}">
        <p14:creationId xmlns:p14="http://schemas.microsoft.com/office/powerpoint/2010/main" val="3280905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31F60-CF26-7A80-A45A-B60FCEAC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F09157-91ED-BE30-0D48-9E9332F9B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170CFF6-2C87-C72F-B6B9-AB7EAA1A02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27819" y="187985"/>
            <a:ext cx="1244763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Arranjos Produtivos Locais (APLs): Identificação por Especialização Ocupacional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A0C2E-AB2B-6AD9-CB68-AC34EF07D98D}"/>
              </a:ext>
            </a:extLst>
          </p:cNvPr>
          <p:cNvSpPr txBox="1"/>
          <p:nvPr/>
        </p:nvSpPr>
        <p:spPr>
          <a:xfrm>
            <a:off x="537936" y="690541"/>
            <a:ext cx="1131912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>
                <a:solidFill>
                  <a:srgbClr val="0000FF"/>
                </a:solidFill>
              </a:rPr>
              <a:t>Bases produtivas municipais </a:t>
            </a:r>
            <a:r>
              <a:rPr lang="pt-BR" dirty="0"/>
              <a:t>usando vínculos RAIS e o Quociente Locacional (QL ≥ 1)</a:t>
            </a:r>
            <a:endParaRPr lang="pt-BR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C2203B-C21D-4881-C842-2E2C2210B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251" y="1121428"/>
            <a:ext cx="7992590" cy="32294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BE1E7F-62A5-CF87-C6E4-052B02BB6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570" y="2924068"/>
            <a:ext cx="5525271" cy="14861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94A38D-D88F-AC96-DC7B-9D056A416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198" y="4517202"/>
            <a:ext cx="7830643" cy="12193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D93506-2B36-5CE5-02E4-750B56A0B859}"/>
              </a:ext>
            </a:extLst>
          </p:cNvPr>
          <p:cNvSpPr/>
          <p:nvPr/>
        </p:nvSpPr>
        <p:spPr>
          <a:xfrm>
            <a:off x="10113888" y="1559514"/>
            <a:ext cx="1445343" cy="409117"/>
          </a:xfrm>
          <a:prstGeom prst="rect">
            <a:avLst/>
          </a:prstGeom>
          <a:solidFill>
            <a:srgbClr val="B4DD2C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Demanda</a:t>
            </a:r>
          </a:p>
        </p:txBody>
      </p:sp>
    </p:spTree>
    <p:extLst>
      <p:ext uri="{BB962C8B-B14F-4D97-AF65-F5344CB8AC3E}">
        <p14:creationId xmlns:p14="http://schemas.microsoft.com/office/powerpoint/2010/main" val="2117308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18601-4D0D-89E4-729D-E821480B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A63847-9FB5-2645-A540-0D11EC6FB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3BB1284-574B-A69D-FA08-42EE00BF3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27819" y="187985"/>
            <a:ext cx="1244763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Métricas para Caracterizar Estruturas Produtivas Locais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28ABF-D31C-1B5D-4FD8-4BFCD9FCFF08}"/>
              </a:ext>
            </a:extLst>
          </p:cNvPr>
          <p:cNvSpPr txBox="1"/>
          <p:nvPr/>
        </p:nvSpPr>
        <p:spPr>
          <a:xfrm>
            <a:off x="1039381" y="701042"/>
            <a:ext cx="984275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/>
              <a:t>Diversidade, ubiquidade e complexidade – especializado ou diversificado?</a:t>
            </a:r>
            <a:endParaRPr lang="pt-BR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38AC2A-A283-28F9-89CE-A371F3147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678" y="1461813"/>
            <a:ext cx="8724693" cy="42642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B17D76-70FC-BC04-6909-86CC13C26239}"/>
              </a:ext>
            </a:extLst>
          </p:cNvPr>
          <p:cNvSpPr/>
          <p:nvPr/>
        </p:nvSpPr>
        <p:spPr>
          <a:xfrm>
            <a:off x="202972" y="235805"/>
            <a:ext cx="1445343" cy="409117"/>
          </a:xfrm>
          <a:prstGeom prst="rect">
            <a:avLst/>
          </a:prstGeom>
          <a:solidFill>
            <a:srgbClr val="B4DD2C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Demanda</a:t>
            </a:r>
          </a:p>
        </p:txBody>
      </p:sp>
    </p:spTree>
    <p:extLst>
      <p:ext uri="{BB962C8B-B14F-4D97-AF65-F5344CB8AC3E}">
        <p14:creationId xmlns:p14="http://schemas.microsoft.com/office/powerpoint/2010/main" val="2775690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AC31C-003F-3115-A21B-98063AF5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D9512C-EF7F-9B28-EF16-98C15D9F9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D80B30B-6654-D1CB-B832-F7571AC70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27819" y="187985"/>
            <a:ext cx="1244763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Arranjos Produtivos Locais (APLs): Identificação por Especialização Ocupacional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B4A1A-16B6-49EE-79EF-C3B5DAAA1D66}"/>
              </a:ext>
            </a:extLst>
          </p:cNvPr>
          <p:cNvSpPr txBox="1"/>
          <p:nvPr/>
        </p:nvSpPr>
        <p:spPr>
          <a:xfrm>
            <a:off x="537936" y="690541"/>
            <a:ext cx="1131912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/>
              <a:t>Bases produtivas municipais usando vínculos RAIS e o Quociente Locacional (QL ≥ 1)</a:t>
            </a:r>
            <a:endParaRPr lang="pt-BR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7B05E5-1951-585E-1637-A1A42A0ED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40" y="1291299"/>
            <a:ext cx="11430340" cy="45806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840B2E-BA3F-1CF7-1EC2-4ED272E67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814" y="1755685"/>
            <a:ext cx="8672052" cy="33141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AF3B1B-0666-D97D-F9A7-FD07542EB7E3}"/>
              </a:ext>
            </a:extLst>
          </p:cNvPr>
          <p:cNvCxnSpPr/>
          <p:nvPr/>
        </p:nvCxnSpPr>
        <p:spPr>
          <a:xfrm flipH="1" flipV="1">
            <a:off x="1948814" y="5114171"/>
            <a:ext cx="1276167" cy="757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7EB554-31CB-7229-D424-A103D572929B}"/>
              </a:ext>
            </a:extLst>
          </p:cNvPr>
          <p:cNvCxnSpPr/>
          <p:nvPr/>
        </p:nvCxnSpPr>
        <p:spPr>
          <a:xfrm flipH="1" flipV="1">
            <a:off x="10620866" y="5114171"/>
            <a:ext cx="951702" cy="757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Magnifying glass outline">
            <a:extLst>
              <a:ext uri="{FF2B5EF4-FFF2-40B4-BE49-F238E27FC236}">
                <a16:creationId xmlns:a16="http://schemas.microsoft.com/office/drawing/2014/main" id="{B7DEC97E-DBFF-68B8-ADB6-2830B17E97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9697" y="4901371"/>
            <a:ext cx="914400" cy="914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DFEC332-E073-F3AD-B644-25CD6765A735}"/>
              </a:ext>
            </a:extLst>
          </p:cNvPr>
          <p:cNvSpPr/>
          <p:nvPr/>
        </p:nvSpPr>
        <p:spPr>
          <a:xfrm>
            <a:off x="334940" y="6041800"/>
            <a:ext cx="1445343" cy="409117"/>
          </a:xfrm>
          <a:prstGeom prst="rect">
            <a:avLst/>
          </a:prstGeom>
          <a:solidFill>
            <a:srgbClr val="B4DD2C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Demanda</a:t>
            </a:r>
          </a:p>
        </p:txBody>
      </p:sp>
    </p:spTree>
    <p:extLst>
      <p:ext uri="{BB962C8B-B14F-4D97-AF65-F5344CB8AC3E}">
        <p14:creationId xmlns:p14="http://schemas.microsoft.com/office/powerpoint/2010/main" val="3116921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5E69-F0AD-B0AA-A1A3-F822DD82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9861CE-043C-793C-BDFE-2AC3283AD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0EA106D-F75A-9D16-FDDE-8509AC00D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434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EPT e Mercado de Trabalho: Diagnóstico da Informalidade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21CA3-BFCC-897D-8D52-A801FDC17F47}"/>
              </a:ext>
            </a:extLst>
          </p:cNvPr>
          <p:cNvSpPr txBox="1"/>
          <p:nvPr/>
        </p:nvSpPr>
        <p:spPr>
          <a:xfrm>
            <a:off x="1715341" y="624832"/>
            <a:ext cx="896431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/>
              <a:t>Classificação de municípios e ocupações por decil de formalização</a:t>
            </a:r>
            <a:endParaRPr lang="pt-BR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F088D9-BFA8-E8DE-3AFE-A9736A49C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90" y="1517379"/>
            <a:ext cx="11169445" cy="4695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E72F74-EB70-F045-2BE8-97FF03F19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503" y="1733032"/>
            <a:ext cx="10205884" cy="267331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0D909F-90DA-5A13-8D02-8E2F35E6A63D}"/>
              </a:ext>
            </a:extLst>
          </p:cNvPr>
          <p:cNvCxnSpPr/>
          <p:nvPr/>
        </p:nvCxnSpPr>
        <p:spPr>
          <a:xfrm flipH="1" flipV="1">
            <a:off x="1789471" y="4503174"/>
            <a:ext cx="1504335" cy="963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066F3F-9E14-87AF-98C7-E7EAD0B3DAA6}"/>
              </a:ext>
            </a:extLst>
          </p:cNvPr>
          <p:cNvCxnSpPr/>
          <p:nvPr/>
        </p:nvCxnSpPr>
        <p:spPr>
          <a:xfrm flipH="1" flipV="1">
            <a:off x="11782221" y="4406343"/>
            <a:ext cx="85314" cy="1129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Magnifying glass outline">
            <a:extLst>
              <a:ext uri="{FF2B5EF4-FFF2-40B4-BE49-F238E27FC236}">
                <a16:creationId xmlns:a16="http://schemas.microsoft.com/office/drawing/2014/main" id="{3566AD63-344A-4E39-51AC-4A64BE6210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40975" y="4487839"/>
            <a:ext cx="914400" cy="9144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5873C52-C09F-61D1-006B-889E78B6C760}"/>
              </a:ext>
            </a:extLst>
          </p:cNvPr>
          <p:cNvSpPr/>
          <p:nvPr/>
        </p:nvSpPr>
        <p:spPr>
          <a:xfrm>
            <a:off x="202972" y="235805"/>
            <a:ext cx="1445343" cy="409117"/>
          </a:xfrm>
          <a:prstGeom prst="rect">
            <a:avLst/>
          </a:prstGeom>
          <a:solidFill>
            <a:srgbClr val="B4DD2C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 lang="pt-BR" noProof="0" dirty="0"/>
              <a:t>Demanda</a:t>
            </a:r>
          </a:p>
        </p:txBody>
      </p:sp>
    </p:spTree>
    <p:extLst>
      <p:ext uri="{BB962C8B-B14F-4D97-AF65-F5344CB8AC3E}">
        <p14:creationId xmlns:p14="http://schemas.microsoft.com/office/powerpoint/2010/main" val="3642233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2AD84-4F2D-89E5-8AE8-86F6C3B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B483E3-6442-3219-12A8-CE48A3DB7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3E9228F-8687-7642-E629-6AE653FE4C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5292" y="262139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Matching de Oferta e Demanda (escolha por filtro)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07A28-32FF-C667-99BF-47C655A8FB3B}"/>
              </a:ext>
            </a:extLst>
          </p:cNvPr>
          <p:cNvSpPr txBox="1"/>
          <p:nvPr/>
        </p:nvSpPr>
        <p:spPr>
          <a:xfrm>
            <a:off x="861757" y="728557"/>
            <a:ext cx="1034289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Usuário seleciona UF e Direção [Oferta </a:t>
            </a:r>
            <a:r>
              <a:rPr lang="pt-BR" noProof="0" dirty="0">
                <a:sym typeface="Wingdings" panose="05000000000000000000" pitchFamily="2" charset="2"/>
              </a:rPr>
              <a:t> Demanda] ou [Demanda  Oferta]</a:t>
            </a:r>
            <a:endParaRPr lang="pt-BR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D6D854-1973-4D04-D3EB-B25E8A287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21" y="1201130"/>
            <a:ext cx="9785028" cy="49283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AD2374-4CD9-38CE-D648-4C121726C0B1}"/>
              </a:ext>
            </a:extLst>
          </p:cNvPr>
          <p:cNvSpPr/>
          <p:nvPr/>
        </p:nvSpPr>
        <p:spPr>
          <a:xfrm>
            <a:off x="328887" y="178767"/>
            <a:ext cx="1332766" cy="457201"/>
          </a:xfrm>
          <a:prstGeom prst="rect">
            <a:avLst/>
          </a:prstGeom>
          <a:solidFill>
            <a:srgbClr val="450A6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Matching</a:t>
            </a:r>
          </a:p>
        </p:txBody>
      </p:sp>
    </p:spTree>
    <p:extLst>
      <p:ext uri="{BB962C8B-B14F-4D97-AF65-F5344CB8AC3E}">
        <p14:creationId xmlns:p14="http://schemas.microsoft.com/office/powerpoint/2010/main" val="2401673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F94BD-DE46-0C1D-A1AD-AB5DEAC5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BDC91B-7B03-605A-896F-6F367CF90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4D8B168-7ACF-A947-CA7B-296BC6C267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5292" y="262139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Oferta </a:t>
            </a:r>
            <a:r>
              <a:rPr lang="pt-BR" sz="2400" noProof="0" dirty="0">
                <a:sym typeface="Wingdings" panose="05000000000000000000" pitchFamily="2" charset="2"/>
              </a:rPr>
              <a:t> Demanda (Matching por IA)  1 de 4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B630D-1067-B31F-9371-6972B1D02888}"/>
              </a:ext>
            </a:extLst>
          </p:cNvPr>
          <p:cNvSpPr txBox="1"/>
          <p:nvPr/>
        </p:nvSpPr>
        <p:spPr>
          <a:xfrm>
            <a:off x="2123946" y="728557"/>
            <a:ext cx="841608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Usuário seleciona UF – Primeira tabela é de Matrículas por Eixo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4080D5-2DD6-51A8-CF7D-BB77AFA2E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967" y="1369859"/>
            <a:ext cx="8888065" cy="48012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AFFB7C-D8D5-F436-54F1-83C0DD0B69D3}"/>
              </a:ext>
            </a:extLst>
          </p:cNvPr>
          <p:cNvSpPr/>
          <p:nvPr/>
        </p:nvSpPr>
        <p:spPr>
          <a:xfrm>
            <a:off x="465292" y="262139"/>
            <a:ext cx="1332766" cy="457201"/>
          </a:xfrm>
          <a:prstGeom prst="rect">
            <a:avLst/>
          </a:prstGeom>
          <a:solidFill>
            <a:srgbClr val="450A6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Matching</a:t>
            </a:r>
          </a:p>
        </p:txBody>
      </p:sp>
    </p:spTree>
    <p:extLst>
      <p:ext uri="{BB962C8B-B14F-4D97-AF65-F5344CB8AC3E}">
        <p14:creationId xmlns:p14="http://schemas.microsoft.com/office/powerpoint/2010/main" val="1884352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9D74-3C74-806B-08E9-95964FA3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1ACA08-8CE5-9A7E-96B4-4F61C2104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4F117BF-E2CC-1A7F-0A4F-E4DBE53CF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5292" y="262139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Oferta </a:t>
            </a:r>
            <a:r>
              <a:rPr lang="pt-BR" sz="2400" noProof="0" dirty="0">
                <a:sym typeface="Wingdings" panose="05000000000000000000" pitchFamily="2" charset="2"/>
              </a:rPr>
              <a:t> Demanda (Matching por IA)  2 de 4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62725-4C84-4EF5-0E37-150FBD3614AF}"/>
              </a:ext>
            </a:extLst>
          </p:cNvPr>
          <p:cNvSpPr txBox="1"/>
          <p:nvPr/>
        </p:nvSpPr>
        <p:spPr>
          <a:xfrm>
            <a:off x="963566" y="1124652"/>
            <a:ext cx="949971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/>
              <a:t>Na segunda</a:t>
            </a:r>
            <a:r>
              <a:rPr lang="pt-BR" noProof="0" dirty="0"/>
              <a:t> tabela, o usuário seleciona Área </a:t>
            </a:r>
            <a:r>
              <a:rPr lang="pt-BR" dirty="0"/>
              <a:t>dentro do Eixo escolhido</a:t>
            </a:r>
            <a:endParaRPr lang="pt-BR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7C929-7377-E32B-A116-8A065F016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88" y="2156894"/>
            <a:ext cx="10559624" cy="3305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F4B4A-3BE4-F6E8-C92F-7BF1FDA18737}"/>
              </a:ext>
            </a:extLst>
          </p:cNvPr>
          <p:cNvSpPr txBox="1"/>
          <p:nvPr/>
        </p:nvSpPr>
        <p:spPr>
          <a:xfrm>
            <a:off x="728837" y="1612991"/>
            <a:ext cx="1012649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/>
              <a:t>No Eixo “Controle e Processos Industrias” – existem 4 Áreas Teccnológicas</a:t>
            </a:r>
            <a:endParaRPr lang="pt-B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47C7BD-D387-FB91-2370-077C98B0C25D}"/>
              </a:ext>
            </a:extLst>
          </p:cNvPr>
          <p:cNvSpPr/>
          <p:nvPr/>
        </p:nvSpPr>
        <p:spPr>
          <a:xfrm>
            <a:off x="465292" y="262139"/>
            <a:ext cx="1332766" cy="457201"/>
          </a:xfrm>
          <a:prstGeom prst="rect">
            <a:avLst/>
          </a:prstGeom>
          <a:solidFill>
            <a:srgbClr val="450A6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Matching</a:t>
            </a:r>
          </a:p>
        </p:txBody>
      </p:sp>
    </p:spTree>
    <p:extLst>
      <p:ext uri="{BB962C8B-B14F-4D97-AF65-F5344CB8AC3E}">
        <p14:creationId xmlns:p14="http://schemas.microsoft.com/office/powerpoint/2010/main" val="2321541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E635B-CC7F-621F-AD1A-4B68EC6B4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D73D9F-CB0B-CCE5-22B3-A79B2F787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79D278B-8A89-3FD8-A4AB-BA78143EE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5292" y="262139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Oferta </a:t>
            </a:r>
            <a:r>
              <a:rPr lang="pt-BR" sz="2400" noProof="0" dirty="0">
                <a:sym typeface="Wingdings" panose="05000000000000000000" pitchFamily="2" charset="2"/>
              </a:rPr>
              <a:t> Demanda (Matching por IA)  3 de 4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CFBF4-D6E1-688C-2708-47FC81E80055}"/>
              </a:ext>
            </a:extLst>
          </p:cNvPr>
          <p:cNvSpPr txBox="1"/>
          <p:nvPr/>
        </p:nvSpPr>
        <p:spPr>
          <a:xfrm>
            <a:off x="465292" y="713801"/>
            <a:ext cx="10415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pt-BR" dirty="0"/>
              <a:t>Na tercera</a:t>
            </a:r>
            <a:r>
              <a:rPr lang="pt-BR" noProof="0" dirty="0"/>
              <a:t> tabela, o usuário seleciona o Curso</a:t>
            </a:r>
            <a:r>
              <a:rPr lang="pt-BR" dirty="0"/>
              <a:t> dentro da Área selecionada</a:t>
            </a:r>
            <a:endParaRPr lang="pt-B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602409-8626-673F-3E80-F76D55E3385E}"/>
              </a:ext>
            </a:extLst>
          </p:cNvPr>
          <p:cNvSpPr txBox="1"/>
          <p:nvPr/>
        </p:nvSpPr>
        <p:spPr>
          <a:xfrm>
            <a:off x="465292" y="1260268"/>
            <a:ext cx="1201803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/>
              <a:t>Na Área “Sistemas de Energia” – existem 4 Cursos, </a:t>
            </a:r>
            <a:r>
              <a:rPr lang="en-US" dirty="0"/>
              <a:t>dos quais 2</a:t>
            </a:r>
            <a:r>
              <a:rPr lang="en-US" b="1" dirty="0"/>
              <a:t> </a:t>
            </a:r>
            <a:r>
              <a:rPr lang="pt-BR" dirty="0"/>
              <a:t>com matrícula nesse UF </a:t>
            </a:r>
            <a:endParaRPr lang="pt-BR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3FD903-9399-1B08-A5BA-CE25331A0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22" y="2646531"/>
            <a:ext cx="10433350" cy="31860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1749E1-F8B8-B180-2125-7E877A97A48E}"/>
              </a:ext>
            </a:extLst>
          </p:cNvPr>
          <p:cNvSpPr txBox="1"/>
          <p:nvPr/>
        </p:nvSpPr>
        <p:spPr>
          <a:xfrm>
            <a:off x="465292" y="1824858"/>
            <a:ext cx="814998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dirty="0">
                <a:solidFill>
                  <a:srgbClr val="0000FF"/>
                </a:solidFill>
              </a:rPr>
              <a:t>Nesse exemplo, foi selecionado “Técnico em Eletrotécnica”</a:t>
            </a:r>
            <a:endParaRPr lang="pt-BR" noProof="0" dirty="0">
              <a:solidFill>
                <a:srgbClr val="0000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B5B132-C013-83E3-35B9-084378F8B49D}"/>
              </a:ext>
            </a:extLst>
          </p:cNvPr>
          <p:cNvSpPr/>
          <p:nvPr/>
        </p:nvSpPr>
        <p:spPr>
          <a:xfrm>
            <a:off x="406745" y="229670"/>
            <a:ext cx="1332766" cy="457201"/>
          </a:xfrm>
          <a:prstGeom prst="rect">
            <a:avLst/>
          </a:prstGeom>
          <a:solidFill>
            <a:srgbClr val="450A6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Matching</a:t>
            </a:r>
          </a:p>
        </p:txBody>
      </p:sp>
    </p:spTree>
    <p:extLst>
      <p:ext uri="{BB962C8B-B14F-4D97-AF65-F5344CB8AC3E}">
        <p14:creationId xmlns:p14="http://schemas.microsoft.com/office/powerpoint/2010/main" val="101528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CE5EC-FB0D-F0BB-9BA2-F9D2B672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CDF5BD-1BAE-DCB9-7DDF-F133C5845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AC1A0B1-6AD2-583E-C368-C62F6A0E2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0245" y="262139"/>
            <a:ext cx="783631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Oferta </a:t>
            </a:r>
            <a:r>
              <a:rPr lang="pt-BR" sz="2400" noProof="0" dirty="0">
                <a:sym typeface="Wingdings" panose="05000000000000000000" pitchFamily="2" charset="2"/>
              </a:rPr>
              <a:t> Demanda (Matching por IA)  4 de 4</a:t>
            </a:r>
            <a:endParaRPr lang="pt-BR" sz="2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7D7C3-6251-0602-5B96-329652D9B285}"/>
              </a:ext>
            </a:extLst>
          </p:cNvPr>
          <p:cNvSpPr txBox="1"/>
          <p:nvPr/>
        </p:nvSpPr>
        <p:spPr>
          <a:xfrm>
            <a:off x="465292" y="713801"/>
            <a:ext cx="10415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pt-BR" noProof="0" dirty="0"/>
              <a:t>Agora aplicamos algoritmo IA (explicado no relatório) para esse UF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016FD-DBAB-4ACC-C40A-3E9C56120D3F}"/>
              </a:ext>
            </a:extLst>
          </p:cNvPr>
          <p:cNvSpPr txBox="1"/>
          <p:nvPr/>
        </p:nvSpPr>
        <p:spPr>
          <a:xfrm>
            <a:off x="465292" y="1260268"/>
            <a:ext cx="1161087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/>
              <a:t>IA procura “match” de conteúdo no Catálogo Nacional de Cursos Tecnológicos (CNCT)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095A8D-C374-6ED8-7DC1-F3B88FC5F420}"/>
              </a:ext>
            </a:extLst>
          </p:cNvPr>
          <p:cNvSpPr txBox="1"/>
          <p:nvPr/>
        </p:nvSpPr>
        <p:spPr>
          <a:xfrm>
            <a:off x="465292" y="1824858"/>
            <a:ext cx="994214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pt-BR" noProof="0" dirty="0">
                <a:solidFill>
                  <a:srgbClr val="0000FF"/>
                </a:solidFill>
              </a:rPr>
              <a:t>Com as exigências descritas no Quadro Brasileiro de Qualificações (QBQ)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7AFF28-CDEC-FB8C-8106-CCDB11B20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59" y="2487771"/>
            <a:ext cx="10537413" cy="340175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641B03-C990-624F-9A9B-76C2B9335C8A}"/>
              </a:ext>
            </a:extLst>
          </p:cNvPr>
          <p:cNvSpPr/>
          <p:nvPr/>
        </p:nvSpPr>
        <p:spPr>
          <a:xfrm>
            <a:off x="328887" y="178767"/>
            <a:ext cx="1332766" cy="457201"/>
          </a:xfrm>
          <a:prstGeom prst="rect">
            <a:avLst/>
          </a:prstGeom>
          <a:solidFill>
            <a:srgbClr val="450A6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Matching</a:t>
            </a:r>
          </a:p>
        </p:txBody>
      </p:sp>
    </p:spTree>
    <p:extLst>
      <p:ext uri="{BB962C8B-B14F-4D97-AF65-F5344CB8AC3E}">
        <p14:creationId xmlns:p14="http://schemas.microsoft.com/office/powerpoint/2010/main" val="1952916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F9776-3EA2-A41B-6DD4-91677872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E92AC-D935-CD41-00A5-52BD5A5F7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A1E38FB-DF94-F1F6-4F97-278C2E13A8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4774" y="231862"/>
            <a:ext cx="890661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Explore a Demanda e Escassez de Profissionais Técnicos </a:t>
            </a:r>
            <a:endParaRPr lang="pt-BR" sz="2400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6F45EE-4141-BA30-0300-CBB8AE618578}"/>
              </a:ext>
            </a:extLst>
          </p:cNvPr>
          <p:cNvSpPr txBox="1"/>
          <p:nvPr/>
        </p:nvSpPr>
        <p:spPr>
          <a:xfrm>
            <a:off x="465292" y="713801"/>
            <a:ext cx="10415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pt-BR" noProof="0" dirty="0"/>
              <a:t>Usamos dois conceitos, do CAGED e RAIS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CA93E-4CB2-AF6B-3F95-CFD565880E6C}"/>
              </a:ext>
            </a:extLst>
          </p:cNvPr>
          <p:cNvSpPr txBox="1"/>
          <p:nvPr/>
        </p:nvSpPr>
        <p:spPr>
          <a:xfrm>
            <a:off x="556358" y="1201895"/>
            <a:ext cx="104150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pt-BR" noProof="0" dirty="0">
                <a:solidFill>
                  <a:srgbClr val="0000FF"/>
                </a:solidFill>
              </a:rPr>
              <a:t>Diferença Salarial entre admitidos e desligados </a:t>
            </a:r>
            <a:r>
              <a:rPr lang="pt-BR" noProof="0" dirty="0"/>
              <a:t>(quando admitidos recebem mais, é sinal de tendência positiva de demanda)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FE91F7-2552-0916-5FB4-65285DB310D3}"/>
              </a:ext>
            </a:extLst>
          </p:cNvPr>
          <p:cNvSpPr txBox="1"/>
          <p:nvPr/>
        </p:nvSpPr>
        <p:spPr>
          <a:xfrm>
            <a:off x="556358" y="1971336"/>
            <a:ext cx="104150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pt-BR" noProof="0" dirty="0">
                <a:solidFill>
                  <a:srgbClr val="0000FF"/>
                </a:solidFill>
              </a:rPr>
              <a:t>Taxa de Rotatividade </a:t>
            </a:r>
            <a:r>
              <a:rPr lang="pt-BR" noProof="0" dirty="0"/>
              <a:t>(soma de admissões e desligamentos em relação ao estoque estimado)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271715-0CDD-14C4-B333-6B513913C50F}"/>
              </a:ext>
            </a:extLst>
          </p:cNvPr>
          <p:cNvSpPr/>
          <p:nvPr/>
        </p:nvSpPr>
        <p:spPr>
          <a:xfrm>
            <a:off x="328887" y="178767"/>
            <a:ext cx="1332766" cy="457201"/>
          </a:xfrm>
          <a:prstGeom prst="rect">
            <a:avLst/>
          </a:prstGeom>
          <a:solidFill>
            <a:srgbClr val="450A6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Matching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72496B-0A42-18C2-DEBE-470232287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2" y="2813307"/>
            <a:ext cx="11513574" cy="288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99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1C53A-825A-C933-4CED-848C3B9B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E6D1FE-1F5F-2625-7C61-7B6A8709A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093" y="6410694"/>
            <a:ext cx="2531461" cy="43088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F453000-BD43-9743-96AA-8D469241F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4774" y="231862"/>
            <a:ext cx="890661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Explore a Demanda e Escassez de Profissionais Técnicos </a:t>
            </a:r>
            <a:endParaRPr lang="pt-BR" sz="2400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2C7B52-454B-FBCC-5D9E-DD8DC827C10C}"/>
              </a:ext>
            </a:extLst>
          </p:cNvPr>
          <p:cNvSpPr txBox="1"/>
          <p:nvPr/>
        </p:nvSpPr>
        <p:spPr>
          <a:xfrm>
            <a:off x="465292" y="713801"/>
            <a:ext cx="10415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pt-BR" dirty="0"/>
              <a:t>Diferença Salarial</a:t>
            </a:r>
            <a:endParaRPr lang="pt-B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81686-B0C8-7E02-1F27-41BFBF63B147}"/>
              </a:ext>
            </a:extLst>
          </p:cNvPr>
          <p:cNvSpPr/>
          <p:nvPr/>
        </p:nvSpPr>
        <p:spPr>
          <a:xfrm>
            <a:off x="328887" y="178767"/>
            <a:ext cx="1332766" cy="457201"/>
          </a:xfrm>
          <a:prstGeom prst="rect">
            <a:avLst/>
          </a:prstGeom>
          <a:solidFill>
            <a:srgbClr val="450A6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Matching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7FC17-45D3-1980-ED13-28845059C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53" y="1201895"/>
            <a:ext cx="9011908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57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50AC9-DC7A-A7E5-213E-504976F3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75B6F0-ABBF-2947-1F52-5EF17674C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093" y="6410694"/>
            <a:ext cx="2531461" cy="43088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AD8E1D4-CEAC-FEC5-B90D-19997927F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4774" y="231862"/>
            <a:ext cx="8906614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dirty="0"/>
              <a:t>Explore a Demanda e Escassez de Profissionais Técnicos </a:t>
            </a:r>
            <a:endParaRPr lang="pt-BR" sz="2400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9D8FF-880D-3268-EEE8-7C3BB0D6EE3E}"/>
              </a:ext>
            </a:extLst>
          </p:cNvPr>
          <p:cNvSpPr txBox="1"/>
          <p:nvPr/>
        </p:nvSpPr>
        <p:spPr>
          <a:xfrm>
            <a:off x="465292" y="713801"/>
            <a:ext cx="10415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pt-BR" noProof="0" dirty="0"/>
              <a:t>Taxa de Rotatividade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536EB4-E480-D650-7FD3-61FEE360E2AC}"/>
              </a:ext>
            </a:extLst>
          </p:cNvPr>
          <p:cNvSpPr/>
          <p:nvPr/>
        </p:nvSpPr>
        <p:spPr>
          <a:xfrm>
            <a:off x="328887" y="178767"/>
            <a:ext cx="1332766" cy="457201"/>
          </a:xfrm>
          <a:prstGeom prst="rect">
            <a:avLst/>
          </a:prstGeom>
          <a:solidFill>
            <a:srgbClr val="450A69"/>
          </a:solidFill>
          <a:ln w="1524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pt-BR" noProof="0" dirty="0"/>
              <a:t>Matching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3E9B2-E3A4-17D4-FC3C-4F44F1239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630" y="1222521"/>
            <a:ext cx="8830907" cy="4182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DE7BC1-BD22-6175-47F9-257D244D6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630" y="5553324"/>
            <a:ext cx="4124901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58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BE24-8CA1-90FF-8391-B868B1BC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DE8A94-D37B-3C30-EC2A-863695A5C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841" y="6212815"/>
            <a:ext cx="2686050" cy="4572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7F23CD3-10AB-241A-E163-D450D778AC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608" y="187985"/>
            <a:ext cx="1065358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pt-BR" sz="2400" noProof="0" dirty="0"/>
              <a:t>Visão Inicial da Ferramenta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8F386-6132-554A-3020-15B7537AC728}"/>
              </a:ext>
            </a:extLst>
          </p:cNvPr>
          <p:cNvSpPr txBox="1"/>
          <p:nvPr/>
        </p:nvSpPr>
        <p:spPr>
          <a:xfrm>
            <a:off x="2684207" y="612717"/>
            <a:ext cx="8136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0" dirty="0"/>
              <a:t>Navegação por </a:t>
            </a:r>
            <a:r>
              <a:rPr lang="pt-BR" noProof="0" dirty="0">
                <a:solidFill>
                  <a:srgbClr val="0000FF"/>
                </a:solidFill>
              </a:rPr>
              <a:t>abas</a:t>
            </a:r>
            <a:r>
              <a:rPr lang="pt-BR" noProof="0" dirty="0"/>
              <a:t> (acima) ou por </a:t>
            </a:r>
            <a:r>
              <a:rPr lang="pt-BR" noProof="0" dirty="0">
                <a:solidFill>
                  <a:srgbClr val="0000FF"/>
                </a:solidFill>
              </a:rPr>
              <a:t>links</a:t>
            </a:r>
            <a:r>
              <a:rPr lang="pt-BR" noProof="0" dirty="0"/>
              <a:t> temáticos (abaixo)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B804CF-2BDC-CE50-0E59-1C0B06E66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09" y="982049"/>
            <a:ext cx="11690556" cy="500323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AF7E37-5F2B-A01C-F6A5-08152ED7EA2A}"/>
              </a:ext>
            </a:extLst>
          </p:cNvPr>
          <p:cNvCxnSpPr>
            <a:cxnSpLocks/>
          </p:cNvCxnSpPr>
          <p:nvPr/>
        </p:nvCxnSpPr>
        <p:spPr>
          <a:xfrm flipV="1">
            <a:off x="924232" y="2051470"/>
            <a:ext cx="1219199" cy="406595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9F9B6D6-5798-0073-62FA-BA7D76A9F63F}"/>
              </a:ext>
            </a:extLst>
          </p:cNvPr>
          <p:cNvSpPr txBox="1"/>
          <p:nvPr/>
        </p:nvSpPr>
        <p:spPr>
          <a:xfrm>
            <a:off x="285135" y="2349910"/>
            <a:ext cx="78658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noProof="0" dirty="0"/>
              <a:t>aba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D31500-4B68-DD1D-D789-57598BFE8663}"/>
              </a:ext>
            </a:extLst>
          </p:cNvPr>
          <p:cNvSpPr txBox="1"/>
          <p:nvPr/>
        </p:nvSpPr>
        <p:spPr>
          <a:xfrm>
            <a:off x="4894006" y="6212815"/>
            <a:ext cx="786581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noProof="0" dirty="0"/>
              <a:t>link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C8AAD6-BC9D-B137-EFAA-045FC0C51D95}"/>
              </a:ext>
            </a:extLst>
          </p:cNvPr>
          <p:cNvCxnSpPr>
            <a:cxnSpLocks/>
          </p:cNvCxnSpPr>
          <p:nvPr/>
        </p:nvCxnSpPr>
        <p:spPr>
          <a:xfrm flipV="1">
            <a:off x="5287296" y="5270090"/>
            <a:ext cx="966019" cy="942725"/>
          </a:xfrm>
          <a:prstGeom prst="straightConnector1">
            <a:avLst/>
          </a:prstGeom>
          <a:ln w="158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A021AF3A-95AC-0F11-4603-DC320F878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393" y="3162437"/>
            <a:ext cx="8183117" cy="155279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1" name="Graphic 30" descr="Magnifying glass outline">
            <a:extLst>
              <a:ext uri="{FF2B5EF4-FFF2-40B4-BE49-F238E27FC236}">
                <a16:creationId xmlns:a16="http://schemas.microsoft.com/office/drawing/2014/main" id="{B192E1FC-5A81-F505-A458-50BD436DB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7399" y="46734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89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65805E-6FB7-265A-97CC-40F676524696}"/>
              </a:ext>
            </a:extLst>
          </p:cNvPr>
          <p:cNvSpPr txBox="1"/>
          <p:nvPr/>
        </p:nvSpPr>
        <p:spPr>
          <a:xfrm>
            <a:off x="2694039" y="530942"/>
            <a:ext cx="6066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Obrigado pela atenção 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115919-881E-F0E7-B74D-4025ADC4208B}"/>
              </a:ext>
            </a:extLst>
          </p:cNvPr>
          <p:cNvSpPr txBox="1"/>
          <p:nvPr/>
        </p:nvSpPr>
        <p:spPr>
          <a:xfrm>
            <a:off x="717755" y="5896171"/>
            <a:ext cx="110671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pt-BR" noProof="0" dirty="0"/>
              <a:t>Contato: Suhas Parandekar: </a:t>
            </a:r>
            <a:r>
              <a:rPr lang="pt-BR" noProof="0" dirty="0">
                <a:hlinkClick r:id="rId2"/>
              </a:rPr>
              <a:t>sparandekar@worldbank.org</a:t>
            </a:r>
            <a:r>
              <a:rPr lang="pt-BR" noProof="0" dirty="0"/>
              <a:t>; Celular: 1-301-646-9043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E233E4-1AB8-77A4-20C7-8A78A292D4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608137"/>
            <a:ext cx="4222750" cy="337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54B758-463A-147F-A14A-5E76A7FE439E}"/>
              </a:ext>
            </a:extLst>
          </p:cNvPr>
          <p:cNvSpPr txBox="1"/>
          <p:nvPr/>
        </p:nvSpPr>
        <p:spPr>
          <a:xfrm>
            <a:off x="1471613" y="5079206"/>
            <a:ext cx="975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https://datanalytics.worldbank.org/content/6604f317-d487-436a-b6b6-792369b341f0/</a:t>
            </a:r>
          </a:p>
        </p:txBody>
      </p:sp>
    </p:spTree>
    <p:extLst>
      <p:ext uri="{BB962C8B-B14F-4D97-AF65-F5344CB8AC3E}">
        <p14:creationId xmlns:p14="http://schemas.microsoft.com/office/powerpoint/2010/main" val="2505375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841</Words>
  <Application>Microsoft Office PowerPoint</Application>
  <PresentationFormat>Widescreen</PresentationFormat>
  <Paragraphs>114</Paragraphs>
  <Slides>32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Neue Haas Grotesk Text Pro</vt:lpstr>
      <vt:lpstr>Wingdings</vt:lpstr>
      <vt:lpstr>Helena</vt:lpstr>
      <vt:lpstr>Ferramenta Analítica: PROPAG/Juros por Educação</vt:lpstr>
      <vt:lpstr>O Desafio: Assegurar o Uso Estratégico dos Recursos do PROPAG</vt:lpstr>
      <vt:lpstr>Como está organizada a ferramenta?</vt:lpstr>
      <vt:lpstr>Visão Inicial da Ferramenta</vt:lpstr>
      <vt:lpstr>População 15–19 anos e Matrículas EPT/EM</vt:lpstr>
      <vt:lpstr>População 15–19 anos e Matrículas EPT/EM</vt:lpstr>
      <vt:lpstr>Simulações Financeiras do PROPAG</vt:lpstr>
      <vt:lpstr>Simulações Financeiras do PROPAG</vt:lpstr>
      <vt:lpstr>Simulações Financeiras do PROPAG</vt:lpstr>
      <vt:lpstr>Retorno ao FEF: Aporte e Fluxo Líquido</vt:lpstr>
      <vt:lpstr>Meta 11a – Comparação das Definições e Cenários</vt:lpstr>
      <vt:lpstr>Meta 11a – Comparação das Definições e Cenários</vt:lpstr>
      <vt:lpstr>Meta 11a – Comparação das Definições e Cenários</vt:lpstr>
      <vt:lpstr>Meta 11a – Comparação das Definições e Cenários</vt:lpstr>
      <vt:lpstr>Modelo Econométrico de Matrículas EPT</vt:lpstr>
      <vt:lpstr>Modelo Econométrico de Matrículas EPT</vt:lpstr>
      <vt:lpstr>Dinamismo Econômico e Oportunidades para EPT</vt:lpstr>
      <vt:lpstr>EPT e Mercado de Trabalho: Diagnóstico da Informalidade</vt:lpstr>
      <vt:lpstr>Arranjos Produtivos Locais (APLs): Identificação por Especialização Ocupacional</vt:lpstr>
      <vt:lpstr>Métricas para Caracterizar Estruturas Produtivas Locais</vt:lpstr>
      <vt:lpstr>Arranjos Produtivos Locais (APLs): Identificação por Especialização Ocupacional</vt:lpstr>
      <vt:lpstr>EPT e Mercado de Trabalho: Diagnóstico da Informalidade</vt:lpstr>
      <vt:lpstr>Matching de Oferta e Demanda (escolha por filtro)</vt:lpstr>
      <vt:lpstr>Oferta  Demanda (Matching por IA)  1 de 4</vt:lpstr>
      <vt:lpstr>Oferta  Demanda (Matching por IA)  2 de 4</vt:lpstr>
      <vt:lpstr>Oferta  Demanda (Matching por IA)  3 de 4</vt:lpstr>
      <vt:lpstr>Oferta  Demanda (Matching por IA)  4 de 4</vt:lpstr>
      <vt:lpstr>Explore a Demanda e Escassez de Profissionais Técnicos </vt:lpstr>
      <vt:lpstr>Explore a Demanda e Escassez de Profissionais Técnicos </vt:lpstr>
      <vt:lpstr>Explore a Demanda e Escassez de Profissionais Técnicos </vt:lpstr>
      <vt:lpstr>Visão Inicial da Ferramenta</vt:lpstr>
      <vt:lpstr>PowerPoint Presentation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Suhas D. Parandekar</dc:creator>
  <cp:lastModifiedBy>Suhas D. Parandekar</cp:lastModifiedBy>
  <cp:revision>22</cp:revision>
  <dcterms:created xsi:type="dcterms:W3CDTF">2025-12-03T18:31:19Z</dcterms:created>
  <dcterms:modified xsi:type="dcterms:W3CDTF">2025-12-05T19:39:22Z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2025-12-04T22:42:04Z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f32cb2e0-919b-43a9-b33d-c46cd774db05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Helena:8</vt:lpwstr>
  </property>
  <property fmtid="{D5CDD505-2E9C-101B-9397-08002B2CF9AE}" pid="11" name="ClassificationContentMarkingFooterText">
    <vt:lpwstr>Official Use Only</vt:lpwstr>
  </property>
</Properties>
</file>